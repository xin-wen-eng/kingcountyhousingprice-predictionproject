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1"/>
  </p:sldMasterIdLst>
  <p:notesMasterIdLst>
    <p:notesMasterId r:id="rId7"/>
  </p:notesMasterIdLst>
  <p:sldIdLst>
    <p:sldId id="256" r:id="rId2"/>
    <p:sldId id="1251" r:id="rId3"/>
    <p:sldId id="258" r:id="rId4"/>
    <p:sldId id="260" r:id="rId5"/>
    <p:sldId id="261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58" autoAdjust="0"/>
    <p:restoredTop sz="55540" autoAdjust="0"/>
  </p:normalViewPr>
  <p:slideViewPr>
    <p:cSldViewPr snapToGrid="0" snapToObjects="1">
      <p:cViewPr varScale="1">
        <p:scale>
          <a:sx n="66" d="100"/>
          <a:sy n="66" d="100"/>
        </p:scale>
        <p:origin x="1960" y="192"/>
      </p:cViewPr>
      <p:guideLst>
        <p:guide orient="horz" pos="2160"/>
        <p:guide pos="2880"/>
      </p:guideLst>
    </p:cSldViewPr>
  </p:slideViewPr>
  <p:notesTextViewPr>
    <p:cViewPr>
      <p:scale>
        <a:sx n="155" d="100"/>
        <a:sy n="15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BDF9D7-CF27-47C5-AAF8-6B30CDE67873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311B1-0584-487E-A2E3-C5F6D55AC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63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includes Seattle and nearby areas.</a:t>
            </a:r>
          </a:p>
          <a:p>
            <a:r>
              <a:rPr lang="en-US" dirty="0"/>
              <a:t>my goal was to build a </a:t>
            </a:r>
            <a:r>
              <a:rPr lang="en-US" b="1" dirty="0"/>
              <a:t>machine learning model</a:t>
            </a:r>
            <a:r>
              <a:rPr lang="en-US" dirty="0"/>
              <a:t> that can accurately predict house sale prices based on property characteristics such as size, grade, location, and condition.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311B1-0584-487E-A2E3-C5F6D55AC3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50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training and test dataset contained </a:t>
            </a:r>
            <a:r>
              <a:rPr lang="en-US" b="1" dirty="0"/>
              <a:t>over 21,000 transactions</a:t>
            </a:r>
            <a:r>
              <a:rPr lang="en-US" dirty="0"/>
              <a:t> between May 2014 and May 2015, with 19 explanatory variables — from the number of bedrooms to geographic coordinates.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here’s  </a:t>
            </a:r>
            <a:r>
              <a:rPr lang="en-US" sz="1200" b="1" dirty="0"/>
              <a:t>Summary statistics  of </a:t>
            </a:r>
            <a:r>
              <a:rPr lang="en-US" dirty="0"/>
              <a:t>training dataset.</a:t>
            </a:r>
            <a:endParaRPr lang="en-US" sz="1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311B1-0584-487E-A2E3-C5F6D55AC3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5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modeling, </a:t>
            </a:r>
            <a:r>
              <a:rPr lang="en-US" dirty="0" err="1"/>
              <a:t>i</a:t>
            </a:r>
            <a:r>
              <a:rPr lang="en-US" dirty="0"/>
              <a:t> performed several preprocessing steps:</a:t>
            </a:r>
          </a:p>
          <a:p>
            <a:r>
              <a:rPr lang="en-US" dirty="0"/>
              <a:t>Converted the sale date into </a:t>
            </a:r>
            <a:r>
              <a:rPr lang="en-US" b="1" dirty="0"/>
              <a:t>year and month</a:t>
            </a:r>
            <a:r>
              <a:rPr lang="en-US" dirty="0"/>
              <a:t> features.</a:t>
            </a:r>
          </a:p>
          <a:p>
            <a:r>
              <a:rPr lang="en-US" dirty="0"/>
              <a:t>Handled categorical variables like </a:t>
            </a:r>
            <a:r>
              <a:rPr lang="en-US" b="1" dirty="0" err="1"/>
              <a:t>zipcode</a:t>
            </a:r>
            <a:r>
              <a:rPr lang="en-US" dirty="0"/>
              <a:t> using </a:t>
            </a:r>
            <a:r>
              <a:rPr lang="en-US" b="1" dirty="0"/>
              <a:t>One-Hot Encoding</a:t>
            </a:r>
            <a:r>
              <a:rPr lang="en-US" dirty="0"/>
              <a:t>.</a:t>
            </a:r>
          </a:p>
          <a:p>
            <a:r>
              <a:rPr lang="en-US" dirty="0"/>
              <a:t>Applied </a:t>
            </a:r>
            <a:r>
              <a:rPr lang="en-US" b="1" dirty="0"/>
              <a:t>log transformation</a:t>
            </a:r>
            <a:r>
              <a:rPr lang="en-US" dirty="0"/>
              <a:t> to the target variable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price</a:t>
            </a:r>
            <a:r>
              <a:rPr lang="en-US" dirty="0"/>
              <a:t> to stabilize variance.</a:t>
            </a:r>
          </a:p>
          <a:p>
            <a:r>
              <a:rPr lang="en-US" dirty="0"/>
              <a:t>Standardized numerical features to ensure consistent scales.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311B1-0584-487E-A2E3-C5F6D55AC38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i</a:t>
            </a:r>
            <a:r>
              <a:rPr lang="en-US" dirty="0"/>
              <a:t> analyzed correlations — features such as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sqft_living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grade</a:t>
            </a:r>
            <a:r>
              <a:rPr lang="en-US" dirty="0"/>
              <a:t>,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bathrooms</a:t>
            </a:r>
            <a:r>
              <a:rPr lang="en-US" dirty="0"/>
              <a:t> showed the </a:t>
            </a:r>
            <a:r>
              <a:rPr lang="en-US" b="1" dirty="0"/>
              <a:t>strongest positive correlation</a:t>
            </a:r>
            <a:r>
              <a:rPr lang="en-US" dirty="0"/>
              <a:t> with house prices.</a:t>
            </a:r>
            <a:br>
              <a:rPr lang="en-US" dirty="0"/>
            </a:br>
            <a:r>
              <a:rPr lang="en-US" dirty="0"/>
              <a:t>To avoid redundancy, </a:t>
            </a:r>
            <a:r>
              <a:rPr lang="en-US" dirty="0" err="1"/>
              <a:t>i</a:t>
            </a:r>
            <a:r>
              <a:rPr lang="en-US" dirty="0"/>
              <a:t> removed highly correlated pairs like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sqft_living</a:t>
            </a:r>
            <a:r>
              <a:rPr lang="en-US" dirty="0"/>
              <a:t> and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sqft_above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 err="1"/>
              <a:t>i</a:t>
            </a:r>
            <a:r>
              <a:rPr lang="en-US" dirty="0"/>
              <a:t> compared four models using 5-fold cross-validation on log-transformed prices:</a:t>
            </a:r>
          </a:p>
          <a:p>
            <a:r>
              <a:rPr lang="en-US" b="1" dirty="0"/>
              <a:t>Linear Regression</a:t>
            </a:r>
            <a:r>
              <a:rPr lang="en-US" dirty="0"/>
              <a:t> — RMSE ≈ 0.18</a:t>
            </a:r>
          </a:p>
          <a:p>
            <a:r>
              <a:rPr lang="en-US" b="1" dirty="0"/>
              <a:t>Ridge Regression</a:t>
            </a:r>
            <a:r>
              <a:rPr lang="en-US" dirty="0"/>
              <a:t> — RMSE ≈ 0.18</a:t>
            </a:r>
          </a:p>
          <a:p>
            <a:r>
              <a:rPr lang="en-US" b="1" dirty="0"/>
              <a:t>Random Forest</a:t>
            </a:r>
            <a:r>
              <a:rPr lang="en-US" dirty="0"/>
              <a:t> — RMSE ≈ 0.15</a:t>
            </a:r>
          </a:p>
          <a:p>
            <a:r>
              <a:rPr lang="en-US" b="1" dirty="0"/>
              <a:t>Gradient Boosting Regressor</a:t>
            </a:r>
            <a:r>
              <a:rPr lang="en-US" dirty="0"/>
              <a:t> — </a:t>
            </a:r>
            <a:r>
              <a:rPr lang="en-US" b="1" dirty="0"/>
              <a:t>RMSE ≈ 0.14</a:t>
            </a:r>
            <a:r>
              <a:rPr lang="en-US" dirty="0"/>
              <a:t>, the best performance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means our predictions were within about </a:t>
            </a:r>
            <a:r>
              <a:rPr lang="en-US" b="1" dirty="0"/>
              <a:t>15%</a:t>
            </a:r>
            <a:r>
              <a:rPr lang="en-US" dirty="0"/>
              <a:t> of actual prices on a log scale.</a:t>
            </a:r>
            <a:br>
              <a:rPr lang="en-US" dirty="0"/>
            </a:br>
            <a:r>
              <a:rPr lang="en-US" dirty="0"/>
              <a:t>Therefore, </a:t>
            </a:r>
            <a:r>
              <a:rPr lang="en-US" b="1" dirty="0"/>
              <a:t>Gradient Boosting</a:t>
            </a:r>
            <a:r>
              <a:rPr lang="en-US" dirty="0"/>
              <a:t> was selected as final model because it shows strong predictive power and interpretability.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311B1-0584-487E-A2E3-C5F6D55AC3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86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According to feature importance from Gradient Boosting, the </a:t>
            </a:r>
            <a:r>
              <a:rPr lang="en-US" b="1" dirty="0"/>
              <a:t>top predictors</a:t>
            </a:r>
            <a:r>
              <a:rPr lang="en-US" dirty="0"/>
              <a:t> were:</a:t>
            </a:r>
            <a:br>
              <a:rPr lang="en-US" dirty="0"/>
            </a:b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sqft_living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grade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bathrooms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zipcode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sqft_living15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waterfront</a:t>
            </a:r>
            <a:r>
              <a:rPr lang="en-US" dirty="0"/>
              <a:t>,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condition</a:t>
            </a:r>
            <a:r>
              <a:rPr lang="en-US" dirty="0"/>
              <a:t>.</a:t>
            </a:r>
          </a:p>
          <a:p>
            <a:r>
              <a:rPr lang="en-US" dirty="0"/>
              <a:t>my findings indicate that:</a:t>
            </a:r>
          </a:p>
          <a:p>
            <a:r>
              <a:rPr lang="en-US" dirty="0"/>
              <a:t>Larger living space and higher construction quality significantly raise prices.</a:t>
            </a:r>
          </a:p>
          <a:p>
            <a:r>
              <a:rPr lang="en-US" dirty="0"/>
              <a:t>Geographic factors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zipcode</a:t>
            </a:r>
            <a:r>
              <a:rPr lang="en-US" dirty="0"/>
              <a:t>) reflect Seattle’s location-based price variation.</a:t>
            </a:r>
          </a:p>
          <a:p>
            <a:r>
              <a:rPr lang="en-US" dirty="0"/>
              <a:t>Scenic amenities like </a:t>
            </a:r>
            <a:r>
              <a:rPr lang="en-US" b="1" dirty="0"/>
              <a:t>view</a:t>
            </a:r>
            <a:r>
              <a:rPr lang="en-US" dirty="0"/>
              <a:t> and </a:t>
            </a:r>
            <a:r>
              <a:rPr lang="en-US" b="1" dirty="0"/>
              <a:t>waterfront</a:t>
            </a:r>
            <a:r>
              <a:rPr lang="en-US" dirty="0"/>
              <a:t> also drive premium pricing.</a:t>
            </a:r>
          </a:p>
          <a:p>
            <a:endParaRPr lang="en-US" dirty="0"/>
          </a:p>
          <a:p>
            <a:r>
              <a:rPr lang="en-US" dirty="0"/>
              <a:t>lastly, I used this model to make price predictions for test dataset. And I believe it’s highly accurate. as I displayed on the slides, I learned many useful technics during the process.</a:t>
            </a:r>
          </a:p>
          <a:p>
            <a:endParaRPr lang="en-US" dirty="0"/>
          </a:p>
          <a:p>
            <a:r>
              <a:rPr lang="en-US" dirty="0"/>
              <a:t>Thank you very much.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311B1-0584-487E-A2E3-C5F6D55AC3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22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B73F-1452-2245-ABEB-A9E0655EA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C7162-61FB-1C25-965A-A3BB36035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C71CA-B1CB-4E8D-DC4B-0B604ABF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E48D3-7964-2952-DC4F-0BC8A5F8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052A-AFA6-25D9-7312-9FE15B90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47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D2E19-4E84-B627-E38D-B4CC88E5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2D2F5-A1CD-8063-89DC-4773E8B5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E1115-81E2-054A-127E-08F3DA3CA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AEC8F-F804-456F-2BBE-86745C81E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0D1E8-8217-BA8C-9DEF-055700C62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0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E5288-D6AB-9BE0-651F-DB9C0BA61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8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FA97E-8F81-1E16-CD0C-D4C8B32E9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82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4A659-188D-B307-5218-78A74C70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2D24B-3626-BDE9-3DDB-7844176AF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CF2CF-95B9-B05E-7B9B-E50D40E23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4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B67D-901F-AA5E-CAFC-EE51ECD0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34CD1-3FB8-AB05-3E60-910F52F95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9088F-BE82-C856-0293-FD6126792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09E09-2D08-DD4F-F6DF-B12E06918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6CD77-8B55-158B-CB2D-65BA6B22A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2880F-D2C0-E4DF-B9E0-76655352E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469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5A738-DA50-9C26-458B-FAC3A97C3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A5E86-352E-11FA-9E28-1F736A0D3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006E0-D52A-E737-3C69-ABBCC4677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81036-C2FA-3742-5BBE-A314FE89C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C8AF1E-E6D3-B75F-111A-6CD5B3A11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602ABF-80D7-68A2-1957-D83C063C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8D4F9A-1A83-0DB4-D867-68C4E5A75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9C1E75-414E-C386-7A6B-594F23277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25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83F9-4AAD-92EF-5E0E-5D0262D3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F4980-ADD7-99DB-E325-DEF97A2B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95D810-7A47-0A73-F3E9-A0A86B17B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4128B-EC63-32B3-C9B0-DA3E9A19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1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274FCB-A939-4129-F403-19D90B64F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05BFDD-CA88-7924-88CF-93D9B355D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53FBA-51EC-1CFD-C592-3235319F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0CB0-83A1-5ADA-933B-1010E257B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42E19-AAA4-2661-6B9A-294AD7117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FA135A-4525-C40F-0480-427D1E428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72081-4437-BE76-C81A-E65DF0660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4E3AA-03E1-2F3C-06BA-3B3277EA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37586-3487-2EE3-F933-6B253BD55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929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E6E0-2E85-CFC8-5B6F-6E7AD258D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99B54D-E9ED-455E-B3BB-8058BBD1C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163EF-5E89-B3EB-4718-B984804E8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7CEB9-301F-D40A-40D1-25F1E94E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78B20-273B-B4CF-B0A4-F77FC173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39B1E-EC79-3317-EAF3-E6547E5C8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8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8636-C620-86FE-9FFD-86D65F7B3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BB4CB-2954-CA9D-BC98-0ABD92FAD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8DF3D-A9DB-B426-CB4F-AEFFE16E6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E880-E567-04BB-2DF2-83EE1BAE0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0D9C0-2B85-7AD1-B683-EE0A606BE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97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20F15-423E-9D2D-E186-E0BDB45A7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4FB07-996B-8B63-B925-21B0EE226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74FD7-6BC3-0EB5-7218-3F5B080EC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61B52-3313-B5A1-2050-EDEA2DBB5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C1307-BB88-982C-B945-E0A07A6F2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47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EE4C19-BB07-0931-DDA7-4210B9C57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007BE-2B21-F038-1426-BC12019E9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6CBA6-D125-9AB0-8F9D-9C6831FD2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068FA-2692-94EF-87DF-6A3F3ABDE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1E331-472E-9C06-AFDB-927F9E818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05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32D908E-87BC-C497-BDAB-5D103EF16C70}"/>
              </a:ext>
            </a:extLst>
          </p:cNvPr>
          <p:cNvSpPr txBox="1"/>
          <p:nvPr/>
        </p:nvSpPr>
        <p:spPr>
          <a:xfrm>
            <a:off x="4232400" y="6273225"/>
            <a:ext cx="3184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Xin Wen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AA554B-DE6C-BFDB-3159-76AD250E6F86}"/>
              </a:ext>
            </a:extLst>
          </p:cNvPr>
          <p:cNvSpPr txBox="1"/>
          <p:nvPr/>
        </p:nvSpPr>
        <p:spPr>
          <a:xfrm>
            <a:off x="2250255" y="5350038"/>
            <a:ext cx="7382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Data Sci Eng Methods Midterm Project</a:t>
            </a:r>
            <a:r>
              <a:rPr lang="zh-CN" altLang="en-US" sz="2400" b="1" dirty="0"/>
              <a:t> </a:t>
            </a:r>
            <a:endParaRPr lang="en-US" altLang="zh-CN" sz="2400" b="1" dirty="0"/>
          </a:p>
          <a:p>
            <a:pPr algn="ctr"/>
            <a:r>
              <a:rPr lang="en-US" sz="2400" b="1" dirty="0"/>
              <a:t>King County House Prices</a:t>
            </a:r>
          </a:p>
        </p:txBody>
      </p:sp>
      <p:pic>
        <p:nvPicPr>
          <p:cNvPr id="16" name="Picture 2" descr="Northeastern University Logo">
            <a:extLst>
              <a:ext uri="{FF2B5EF4-FFF2-40B4-BE49-F238E27FC236}">
                <a16:creationId xmlns:a16="http://schemas.microsoft.com/office/drawing/2014/main" id="{C195746D-1C21-E87A-60B4-821FE8757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1815" y="0"/>
            <a:ext cx="1604047" cy="90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25CC9E-DD18-1414-F393-D3AB15FC5A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207" b="14347"/>
          <a:stretch>
            <a:fillRect/>
          </a:stretch>
        </p:blipFill>
        <p:spPr>
          <a:xfrm>
            <a:off x="2055137" y="246221"/>
            <a:ext cx="7772400" cy="45913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D36C-2130-55E3-4C91-A001DDA2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6302F-1324-0F0E-2C94-5E621B500506}"/>
              </a:ext>
            </a:extLst>
          </p:cNvPr>
          <p:cNvSpPr txBox="1"/>
          <p:nvPr/>
        </p:nvSpPr>
        <p:spPr>
          <a:xfrm>
            <a:off x="0" y="0"/>
            <a:ext cx="5441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Summary statistics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8C472D-CB87-D6B9-DE1F-5AA1D19BF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272857"/>
              </p:ext>
            </p:extLst>
          </p:nvPr>
        </p:nvGraphicFramePr>
        <p:xfrm>
          <a:off x="758554" y="707886"/>
          <a:ext cx="10671715" cy="5961469"/>
        </p:xfrm>
        <a:graphic>
          <a:graphicData uri="http://schemas.openxmlformats.org/drawingml/2006/table">
            <a:tbl>
              <a:tblPr/>
              <a:tblGrid>
                <a:gridCol w="1527446">
                  <a:extLst>
                    <a:ext uri="{9D8B030D-6E8A-4147-A177-3AD203B41FA5}">
                      <a16:colId xmlns:a16="http://schemas.microsoft.com/office/drawing/2014/main" val="1015420762"/>
                    </a:ext>
                  </a:extLst>
                </a:gridCol>
                <a:gridCol w="1326995">
                  <a:extLst>
                    <a:ext uri="{9D8B030D-6E8A-4147-A177-3AD203B41FA5}">
                      <a16:colId xmlns:a16="http://schemas.microsoft.com/office/drawing/2014/main" val="3205431452"/>
                    </a:ext>
                  </a:extLst>
                </a:gridCol>
                <a:gridCol w="1260088">
                  <a:extLst>
                    <a:ext uri="{9D8B030D-6E8A-4147-A177-3AD203B41FA5}">
                      <a16:colId xmlns:a16="http://schemas.microsoft.com/office/drawing/2014/main" val="3790290788"/>
                    </a:ext>
                  </a:extLst>
                </a:gridCol>
                <a:gridCol w="1182029">
                  <a:extLst>
                    <a:ext uri="{9D8B030D-6E8A-4147-A177-3AD203B41FA5}">
                      <a16:colId xmlns:a16="http://schemas.microsoft.com/office/drawing/2014/main" val="3205253936"/>
                    </a:ext>
                  </a:extLst>
                </a:gridCol>
                <a:gridCol w="5375157">
                  <a:extLst>
                    <a:ext uri="{9D8B030D-6E8A-4147-A177-3AD203B41FA5}">
                      <a16:colId xmlns:a16="http://schemas.microsoft.com/office/drawing/2014/main" val="1253005653"/>
                    </a:ext>
                  </a:extLst>
                </a:gridCol>
              </a:tblGrid>
              <a:tr h="183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Variable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Mean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Min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Max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Notes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628128"/>
                  </a:ext>
                </a:extLst>
              </a:tr>
              <a:tr h="321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bedrooms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3.4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33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Mostly 3–4 bedrooms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823037"/>
                  </a:ext>
                </a:extLst>
              </a:tr>
              <a:tr h="321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bathrooms</a:t>
                      </a:r>
                      <a:endParaRPr lang="en-US" sz="1600" dirty="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2.1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0.5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8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Smooth distribution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458676"/>
                  </a:ext>
                </a:extLst>
              </a:tr>
              <a:tr h="4585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 err="1"/>
                        <a:t>sqft_living</a:t>
                      </a:r>
                      <a:endParaRPr lang="en-US" sz="1600" dirty="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2,080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290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13,540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Interior area, correlated with price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543437"/>
                  </a:ext>
                </a:extLst>
              </a:tr>
              <a:tr h="321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sqft_lot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15,100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520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1.6 million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Right-skewed, some large lots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25499"/>
                  </a:ext>
                </a:extLst>
              </a:tr>
              <a:tr h="183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floors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1.5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3.5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Mostly 1 or 2 floors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61500"/>
                  </a:ext>
                </a:extLst>
              </a:tr>
              <a:tr h="321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waterfront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0.007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~0.7% have waterfront view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49560"/>
                  </a:ext>
                </a:extLst>
              </a:tr>
              <a:tr h="321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view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0.23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4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Categorical, higher = better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762340"/>
                  </a:ext>
                </a:extLst>
              </a:tr>
              <a:tr h="321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condition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3.4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5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Most homes are average (3)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52742"/>
                  </a:ext>
                </a:extLst>
              </a:tr>
              <a:tr h="321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grade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7.7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13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Strongly correlated with price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653136"/>
                  </a:ext>
                </a:extLst>
              </a:tr>
              <a:tr h="321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sqft_above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1,800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290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9,410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Similar to living area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767131"/>
                  </a:ext>
                </a:extLst>
              </a:tr>
              <a:tr h="321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sqft_basement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290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4,820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Many have no basement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62402"/>
                  </a:ext>
                </a:extLst>
              </a:tr>
              <a:tr h="183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yr_built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1971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1900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2015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Median ~1975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082345"/>
                  </a:ext>
                </a:extLst>
              </a:tr>
              <a:tr h="183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yr_renovated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85% = 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2015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Most not renovated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131707"/>
                  </a:ext>
                </a:extLst>
              </a:tr>
              <a:tr h="183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lat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47.56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47.16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47.78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Seattle region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125120"/>
                  </a:ext>
                </a:extLst>
              </a:tr>
              <a:tr h="183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long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-122.21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-122.52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-121.32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King County area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952090"/>
                  </a:ext>
                </a:extLst>
              </a:tr>
              <a:tr h="1834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zipcode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—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—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70+ unique codes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794684"/>
                  </a:ext>
                </a:extLst>
              </a:tr>
              <a:tr h="321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sqft_living15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1,990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399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6,210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Neighborhood living area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34703"/>
                  </a:ext>
                </a:extLst>
              </a:tr>
              <a:tr h="3210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sqft_lot15</a:t>
                      </a:r>
                      <a:endParaRPr lang="en-US" sz="1600"/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13,300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651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871,000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Neighborhood lot area</a:t>
                      </a:r>
                    </a:p>
                  </a:txBody>
                  <a:tcPr marL="37852" marR="37852" marT="18926" marB="189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416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1948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4CE01-769F-C6A0-E90A-B683DEE0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638322-F3C9-BD0F-AFD5-9FB059818847}"/>
              </a:ext>
            </a:extLst>
          </p:cNvPr>
          <p:cNvSpPr txBox="1"/>
          <p:nvPr/>
        </p:nvSpPr>
        <p:spPr>
          <a:xfrm>
            <a:off x="0" y="0"/>
            <a:ext cx="5441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Data preparation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CBD000-423B-E4DB-576D-A88BB487A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429011"/>
              </p:ext>
            </p:extLst>
          </p:nvPr>
        </p:nvGraphicFramePr>
        <p:xfrm>
          <a:off x="488485" y="919588"/>
          <a:ext cx="11211854" cy="55601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4625">
                  <a:extLst>
                    <a:ext uri="{9D8B030D-6E8A-4147-A177-3AD203B41FA5}">
                      <a16:colId xmlns:a16="http://schemas.microsoft.com/office/drawing/2014/main" val="3249702522"/>
                    </a:ext>
                  </a:extLst>
                </a:gridCol>
                <a:gridCol w="8497229">
                  <a:extLst>
                    <a:ext uri="{9D8B030D-6E8A-4147-A177-3AD203B41FA5}">
                      <a16:colId xmlns:a16="http://schemas.microsoft.com/office/drawing/2014/main" val="2297064587"/>
                    </a:ext>
                  </a:extLst>
                </a:gridCol>
              </a:tblGrid>
              <a:tr h="2247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Step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Action Taken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3101499085"/>
                  </a:ext>
                </a:extLst>
              </a:tr>
              <a:tr h="6742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Load and Inspect Data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Loaded training and test CSV files, standardized column names to lowercase.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492987689"/>
                  </a:ext>
                </a:extLst>
              </a:tr>
              <a:tr h="8989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Handle Missing Values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Checked for missing values;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most columns complete; 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'</a:t>
                      </a:r>
                      <a:r>
                        <a:rPr lang="en-US" sz="1800" u="none" strike="noStrike" dirty="0" err="1">
                          <a:effectLst/>
                        </a:rPr>
                        <a:t>yr_renovated</a:t>
                      </a:r>
                      <a:r>
                        <a:rPr lang="en-US" sz="1800" u="none" strike="noStrike" dirty="0">
                          <a:effectLst/>
                        </a:rPr>
                        <a:t>' zeros treated as not renovated.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3243472546"/>
                  </a:ext>
                </a:extLst>
              </a:tr>
              <a:tr h="4494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Data Type Checks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Verified numeric vs categorical; converted types where needed.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3342770783"/>
                  </a:ext>
                </a:extLst>
              </a:tr>
              <a:tr h="2247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Remove Irrelevant Columns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Removed 'id' (identifier only).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785197354"/>
                  </a:ext>
                </a:extLst>
              </a:tr>
              <a:tr h="6742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Outlier Detection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Identified extreme values in price and </a:t>
                      </a:r>
                      <a:r>
                        <a:rPr lang="en-US" sz="1800" u="none" strike="noStrike" dirty="0" err="1">
                          <a:effectLst/>
                        </a:rPr>
                        <a:t>sqft_lot</a:t>
                      </a:r>
                      <a:r>
                        <a:rPr lang="en-US" sz="1800" u="none" strike="noStrike" dirty="0">
                          <a:effectLst/>
                        </a:rPr>
                        <a:t>; 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retained but log-transformed target.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3617681337"/>
                  </a:ext>
                </a:extLst>
              </a:tr>
              <a:tr h="4494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Feature Transformation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Applied log transform to 'price' to reduce skewness.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2275784345"/>
                  </a:ext>
                </a:extLst>
              </a:tr>
              <a:tr h="8989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Encoding and Scaling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Scaled numeric features with StandardScaler; </a:t>
                      </a:r>
                      <a:br>
                        <a:rPr lang="en-US" sz="1800" u="none" strike="noStrike" dirty="0">
                          <a:effectLst/>
                        </a:rPr>
                      </a:br>
                      <a:r>
                        <a:rPr lang="en-US" sz="1800" u="none" strike="noStrike" dirty="0">
                          <a:effectLst/>
                        </a:rPr>
                        <a:t>encoded '</a:t>
                      </a:r>
                      <a:r>
                        <a:rPr lang="en-US" sz="1800" u="none" strike="noStrike" dirty="0" err="1">
                          <a:effectLst/>
                        </a:rPr>
                        <a:t>zipcode</a:t>
                      </a:r>
                      <a:r>
                        <a:rPr lang="en-US" sz="1800" u="none" strike="noStrike" dirty="0">
                          <a:effectLst/>
                        </a:rPr>
                        <a:t>' using </a:t>
                      </a:r>
                      <a:r>
                        <a:rPr lang="en-US" sz="1800" u="none" strike="noStrike" dirty="0" err="1">
                          <a:effectLst/>
                        </a:rPr>
                        <a:t>OneHotEncoder</a:t>
                      </a:r>
                      <a:r>
                        <a:rPr lang="en-US" sz="1800" u="none" strike="noStrike" dirty="0">
                          <a:effectLst/>
                        </a:rPr>
                        <a:t>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3425031018"/>
                  </a:ext>
                </a:extLst>
              </a:tr>
              <a:tr h="6742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Consistency Between Train/Test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Ensured same preprocessing pipeline for both datasets with </a:t>
                      </a:r>
                      <a:r>
                        <a:rPr lang="en-US" sz="1800" u="none" strike="noStrike" dirty="0" err="1">
                          <a:effectLst/>
                        </a:rPr>
                        <a:t>handle_unknown</a:t>
                      </a:r>
                      <a:r>
                        <a:rPr lang="en-US" sz="1800" u="none" strike="noStrike" dirty="0">
                          <a:effectLst/>
                        </a:rPr>
                        <a:t>='ignore'.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extLst>
                  <a:ext uri="{0D108BD9-81ED-4DB2-BD59-A6C34878D82A}">
                    <a16:rowId xmlns:a16="http://schemas.microsoft.com/office/drawing/2014/main" val="912439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5674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4CF8F-8A88-1114-6E4C-178BFA39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F796C7-EBFD-F18B-A78A-7B85560E50EB}"/>
              </a:ext>
            </a:extLst>
          </p:cNvPr>
          <p:cNvSpPr txBox="1"/>
          <p:nvPr/>
        </p:nvSpPr>
        <p:spPr>
          <a:xfrm>
            <a:off x="0" y="0"/>
            <a:ext cx="723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Feature and model selection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ADD7459-6FEB-B177-7A7C-E33270765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365236"/>
              </p:ext>
            </p:extLst>
          </p:nvPr>
        </p:nvGraphicFramePr>
        <p:xfrm>
          <a:off x="838199" y="922814"/>
          <a:ext cx="10512426" cy="3474212"/>
        </p:xfrm>
        <a:graphic>
          <a:graphicData uri="http://schemas.openxmlformats.org/drawingml/2006/table">
            <a:tbl>
              <a:tblPr/>
              <a:tblGrid>
                <a:gridCol w="3504142">
                  <a:extLst>
                    <a:ext uri="{9D8B030D-6E8A-4147-A177-3AD203B41FA5}">
                      <a16:colId xmlns:a16="http://schemas.microsoft.com/office/drawing/2014/main" val="3113808583"/>
                    </a:ext>
                  </a:extLst>
                </a:gridCol>
                <a:gridCol w="3504142">
                  <a:extLst>
                    <a:ext uri="{9D8B030D-6E8A-4147-A177-3AD203B41FA5}">
                      <a16:colId xmlns:a16="http://schemas.microsoft.com/office/drawing/2014/main" val="1381805996"/>
                    </a:ext>
                  </a:extLst>
                </a:gridCol>
                <a:gridCol w="3504142">
                  <a:extLst>
                    <a:ext uri="{9D8B030D-6E8A-4147-A177-3AD203B41FA5}">
                      <a16:colId xmlns:a16="http://schemas.microsoft.com/office/drawing/2014/main" val="1181904782"/>
                    </a:ext>
                  </a:extLst>
                </a:gridCol>
              </a:tblGrid>
              <a:tr h="3656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455520"/>
                  </a:ext>
                </a:extLst>
              </a:tr>
              <a:tr h="11882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1. Correlation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latin typeface="+mn-lt"/>
                        </a:rPr>
                        <a:t>Pearson correlation with log(price)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latin typeface="+mn-lt"/>
                        </a:rPr>
                        <a:t>Found strong positive relationships with </a:t>
                      </a:r>
                      <a:r>
                        <a:rPr lang="en-US" sz="1800" b="0" dirty="0" err="1">
                          <a:latin typeface="+mn-lt"/>
                        </a:rPr>
                        <a:t>sqft_living</a:t>
                      </a:r>
                      <a:r>
                        <a:rPr lang="en-US" sz="1800" b="0" dirty="0">
                          <a:latin typeface="+mn-lt"/>
                        </a:rPr>
                        <a:t>, grade, and bathrooms.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135061"/>
                  </a:ext>
                </a:extLst>
              </a:tr>
              <a:tr h="639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2. Multicollinearity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latin typeface="+mn-lt"/>
                        </a:rPr>
                        <a:t>Correlation matrix and VIF threshold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latin typeface="+mn-lt"/>
                        </a:rPr>
                        <a:t>|r| &gt; 0.8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438231"/>
                  </a:ext>
                </a:extLst>
              </a:tr>
              <a:tr h="639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3. Feature Importance (GBR)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latin typeface="+mn-lt"/>
                        </a:rPr>
                        <a:t>Tree-based Gradient Boosting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latin typeface="+mn-lt"/>
                        </a:rPr>
                        <a:t>Ranked all features automatically by contribution.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140257"/>
                  </a:ext>
                </a:extLst>
              </a:tr>
              <a:tr h="639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4. Iterative Refinement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>
                          <a:latin typeface="+mn-lt"/>
                        </a:rPr>
                        <a:t>Cross-validation 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latin typeface="+mn-lt"/>
                        </a:rPr>
                        <a:t>Selected top 10 features minimizing error.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36454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7431864-8256-580A-722B-F3E3F3B2A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963897"/>
              </p:ext>
            </p:extLst>
          </p:nvPr>
        </p:nvGraphicFramePr>
        <p:xfrm>
          <a:off x="838199" y="4732814"/>
          <a:ext cx="10512426" cy="1828800"/>
        </p:xfrm>
        <a:graphic>
          <a:graphicData uri="http://schemas.openxmlformats.org/drawingml/2006/table">
            <a:tbl>
              <a:tblPr/>
              <a:tblGrid>
                <a:gridCol w="3504142">
                  <a:extLst>
                    <a:ext uri="{9D8B030D-6E8A-4147-A177-3AD203B41FA5}">
                      <a16:colId xmlns:a16="http://schemas.microsoft.com/office/drawing/2014/main" val="4033915405"/>
                    </a:ext>
                  </a:extLst>
                </a:gridCol>
                <a:gridCol w="3504142">
                  <a:extLst>
                    <a:ext uri="{9D8B030D-6E8A-4147-A177-3AD203B41FA5}">
                      <a16:colId xmlns:a16="http://schemas.microsoft.com/office/drawing/2014/main" val="431260594"/>
                    </a:ext>
                  </a:extLst>
                </a:gridCol>
                <a:gridCol w="3504142">
                  <a:extLst>
                    <a:ext uri="{9D8B030D-6E8A-4147-A177-3AD203B41FA5}">
                      <a16:colId xmlns:a16="http://schemas.microsoft.com/office/drawing/2014/main" val="188796068"/>
                    </a:ext>
                  </a:extLst>
                </a:gridCol>
              </a:tblGrid>
              <a:tr h="3656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Performance (RMSE log-scale)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307145"/>
                  </a:ext>
                </a:extLst>
              </a:tr>
              <a:tr h="3656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Linear Regression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Simple 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0.18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578844"/>
                  </a:ext>
                </a:extLst>
              </a:tr>
              <a:tr h="3656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Ridge Regression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Regularized linear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0.17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800146"/>
                  </a:ext>
                </a:extLst>
              </a:tr>
              <a:tr h="3656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Random Forest Regressor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Ensemble of trees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0.15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443446"/>
                  </a:ext>
                </a:extLst>
              </a:tr>
              <a:tr h="3656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Gradient Boosting Regressor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Sequential tree boosting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0.14 (Best)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307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617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ACBEB-0FF2-B8AE-03AD-69A469D0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F822EE-5F00-FB6A-A657-298BF829ADA3}"/>
              </a:ext>
            </a:extLst>
          </p:cNvPr>
          <p:cNvSpPr txBox="1"/>
          <p:nvPr/>
        </p:nvSpPr>
        <p:spPr>
          <a:xfrm>
            <a:off x="0" y="0"/>
            <a:ext cx="5441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Results and findings 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259DBE9-8C3F-0812-2A49-EBBFA1EC9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797148"/>
              </p:ext>
            </p:extLst>
          </p:nvPr>
        </p:nvGraphicFramePr>
        <p:xfrm>
          <a:off x="838197" y="605708"/>
          <a:ext cx="10512424" cy="2286000"/>
        </p:xfrm>
        <a:graphic>
          <a:graphicData uri="http://schemas.openxmlformats.org/drawingml/2006/table">
            <a:tbl>
              <a:tblPr/>
              <a:tblGrid>
                <a:gridCol w="3093722">
                  <a:extLst>
                    <a:ext uri="{9D8B030D-6E8A-4147-A177-3AD203B41FA5}">
                      <a16:colId xmlns:a16="http://schemas.microsoft.com/office/drawing/2014/main" val="1165280682"/>
                    </a:ext>
                  </a:extLst>
                </a:gridCol>
                <a:gridCol w="7418702">
                  <a:extLst>
                    <a:ext uri="{9D8B030D-6E8A-4147-A177-3AD203B41FA5}">
                      <a16:colId xmlns:a16="http://schemas.microsoft.com/office/drawing/2014/main" val="152859093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Model 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02961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Evaluation Metric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+mn-lt"/>
                        </a:rPr>
                        <a:t>RMSE between log(predicted) and log(actual) prices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38028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Best Model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+mn-lt"/>
                        </a:rPr>
                        <a:t>Gradient Boosting Regressor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97515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Cross-Validation RMSE (log)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+mn-lt"/>
                        </a:rPr>
                        <a:t>Average of 5 folds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3901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Interpretation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+mn-lt"/>
                        </a:rPr>
                        <a:t>Predictions are, on average, within ≈ 15 % of true prices (on a log scale).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0389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4EC835F-F817-2822-68E0-8B3F1F2D0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683216"/>
              </p:ext>
            </p:extLst>
          </p:nvPr>
        </p:nvGraphicFramePr>
        <p:xfrm>
          <a:off x="419095" y="3139440"/>
          <a:ext cx="11350627" cy="3565652"/>
        </p:xfrm>
        <a:graphic>
          <a:graphicData uri="http://schemas.openxmlformats.org/drawingml/2006/table">
            <a:tbl>
              <a:tblPr/>
              <a:tblGrid>
                <a:gridCol w="3093570">
                  <a:extLst>
                    <a:ext uri="{9D8B030D-6E8A-4147-A177-3AD203B41FA5}">
                      <a16:colId xmlns:a16="http://schemas.microsoft.com/office/drawing/2014/main" val="2407425929"/>
                    </a:ext>
                  </a:extLst>
                </a:gridCol>
                <a:gridCol w="8257057">
                  <a:extLst>
                    <a:ext uri="{9D8B030D-6E8A-4147-A177-3AD203B41FA5}">
                      <a16:colId xmlns:a16="http://schemas.microsoft.com/office/drawing/2014/main" val="275695447"/>
                    </a:ext>
                  </a:extLst>
                </a:gridCol>
              </a:tblGrid>
              <a:tr h="3656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Feature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767447"/>
                  </a:ext>
                </a:extLst>
              </a:tr>
              <a:tr h="639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Size &amp;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n-lt"/>
                        </a:rPr>
                        <a:t>Larger living area (</a:t>
                      </a:r>
                      <a:r>
                        <a:rPr lang="en-US" sz="1800" dirty="0" err="1">
                          <a:latin typeface="+mn-lt"/>
                        </a:rPr>
                        <a:t>sqft_living</a:t>
                      </a:r>
                      <a:r>
                        <a:rPr lang="en-US" sz="1800" dirty="0">
                          <a:latin typeface="+mn-lt"/>
                        </a:rPr>
                        <a:t>) and higher construction grade (grade) strongly increase price.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7387"/>
                  </a:ext>
                </a:extLst>
              </a:tr>
              <a:tr h="639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n-lt"/>
                        </a:rPr>
                        <a:t>Geographic variables (</a:t>
                      </a:r>
                      <a:r>
                        <a:rPr lang="en-US" sz="1800" dirty="0" err="1">
                          <a:latin typeface="+mn-lt"/>
                        </a:rPr>
                        <a:t>lat</a:t>
                      </a:r>
                      <a:r>
                        <a:rPr lang="en-US" sz="1800" dirty="0">
                          <a:latin typeface="+mn-lt"/>
                        </a:rPr>
                        <a:t>, </a:t>
                      </a:r>
                      <a:r>
                        <a:rPr lang="en-US" sz="1800" dirty="0" err="1">
                          <a:latin typeface="+mn-lt"/>
                        </a:rPr>
                        <a:t>zipcode</a:t>
                      </a:r>
                      <a:r>
                        <a:rPr lang="en-US" sz="1800" dirty="0">
                          <a:latin typeface="+mn-lt"/>
                        </a:rPr>
                        <a:t>) capture price variation across Seattle neighborhoods.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277351"/>
                  </a:ext>
                </a:extLst>
              </a:tr>
              <a:tr h="639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latin typeface="+mn-lt"/>
                        </a:rPr>
                        <a:t>Amenities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n-lt"/>
                        </a:rPr>
                        <a:t>Features such as view, bathrooms, and especially waterfront substantially raise price.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77272"/>
                  </a:ext>
                </a:extLst>
              </a:tr>
              <a:tr h="639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latin typeface="+mn-lt"/>
                        </a:rPr>
                        <a:t>Neighborhood 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n-lt"/>
                        </a:rPr>
                        <a:t>Nearby house size (sqft_living15) correlates positively—neighborhood effect.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373148"/>
                  </a:ext>
                </a:extLst>
              </a:tr>
              <a:tr h="6398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+mn-lt"/>
                        </a:rPr>
                        <a:t>Well-maintained homes (condition ≥ 4) command higher value.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95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535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8716</TotalTime>
  <Words>934</Words>
  <Application>Microsoft Macintosh PowerPoint</Application>
  <PresentationFormat>Custom</PresentationFormat>
  <Paragraphs>203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 Li</cp:lastModifiedBy>
  <cp:revision>657</cp:revision>
  <dcterms:created xsi:type="dcterms:W3CDTF">2013-01-27T09:14:16Z</dcterms:created>
  <dcterms:modified xsi:type="dcterms:W3CDTF">2025-11-01T04:13:22Z</dcterms:modified>
  <cp:category/>
</cp:coreProperties>
</file>